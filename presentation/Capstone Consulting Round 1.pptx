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1675"/>
  <p:notesSz cx="6858000" cy="9144000"/>
  <p:embeddedFontLst>
    <p:embeddedFont>
      <p:font typeface="IBM Plex Sans"/>
      <p:regular r:id="rId21"/>
      <p:bold r:id="rId22"/>
      <p:italic r:id="rId23"/>
      <p:boldItalic r:id="rId24"/>
    </p:embeddedFont>
    <p:embeddedFont>
      <p:font typeface="IBM Plex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C3613F-AC12-4119-B999-A2B09C365D6C}">
  <a:tblStyle styleId="{65C3613F-AC12-4119-B999-A2B09C365D6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BMPlexSans-bold.fntdata"/><Relationship Id="rId21" Type="http://schemas.openxmlformats.org/officeDocument/2006/relationships/font" Target="fonts/IBMPlexSans-regular.fntdata"/><Relationship Id="rId24" Type="http://schemas.openxmlformats.org/officeDocument/2006/relationships/font" Target="fonts/IBMPlexSans-boldItalic.fntdata"/><Relationship Id="rId23" Type="http://schemas.openxmlformats.org/officeDocument/2006/relationships/font" Target="fonts/IBMPlex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BMPlexMono-bold.fntdata"/><Relationship Id="rId25" Type="http://schemas.openxmlformats.org/officeDocument/2006/relationships/font" Target="fonts/IBMPlexMono-regular.fntdata"/><Relationship Id="rId28" Type="http://schemas.openxmlformats.org/officeDocument/2006/relationships/font" Target="fonts/IBMPlexMono-boldItalic.fntdata"/><Relationship Id="rId27" Type="http://schemas.openxmlformats.org/officeDocument/2006/relationships/font" Target="fonts/IBMPlex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9cb7f1e8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f9cb7f1e8d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9cb7f1e8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f9cb7f1e8d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9cb7f1e8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f9cb7f1e8d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9cb7f1e8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f9cb7f1e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FE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ROUND 1 — AI CONSULTING PITCH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640080" y="2286000"/>
            <a:ext cx="96012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Property </a:t>
            </a:r>
            <a:r>
              <a:rPr b="1" lang="en-US" sz="46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Management System -</a:t>
            </a:r>
            <a:r>
              <a:rPr b="1" i="0" lang="en-US" sz="4600" u="none" cap="none" strike="noStrike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 Pitch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40080" y="3794760"/>
            <a:ext cx="8686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B665F"/>
                </a:solidFill>
                <a:latin typeface="IBM Plex Sans"/>
                <a:ea typeface="IBM Plex Sans"/>
                <a:cs typeface="IBM Plex Sans"/>
                <a:sym typeface="IBM Plex Sans"/>
              </a:rPr>
              <a:t>A property-management module for private landlords, pitched to Chleo — CEO of an existing property listing platform who isn't sure what “the AI” actually does.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Prepared for the Round 1 teaching-staff presentation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Property Ledger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/ 14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FE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109728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F5E56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SCENARIO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640080" y="384048"/>
            <a:ext cx="384048" cy="256032"/>
          </a:xfrm>
          <a:prstGeom prst="rect">
            <a:avLst/>
          </a:prstGeom>
          <a:solidFill>
            <a:srgbClr val="1F5E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ECEFE2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40080" y="777240"/>
            <a:ext cx="9601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Chleo just finished asking the question every AI pitch dreads.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40080" y="1920235"/>
            <a:ext cx="9875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She runs a property listing platform with around </a:t>
            </a:r>
            <a:r>
              <a:rPr lang="en-US" sz="17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0.5M MAU and 150K Landlords </a:t>
            </a:r>
            <a:r>
              <a:rPr b="0" i="0" lang="en-US" sz="17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. She's heard the AI hype, and she's scared it isn't transparent — she doesn't know what “the AI” is, or how she'd explain it to her own team if something went wrong.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40080" y="2926080"/>
            <a:ext cx="65836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  She isn't asking for a moonshot. She's asking for something she can look at and understand.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  This pitch is built to answer her fear directly, not talk around it — every claim is cited, every limit is stated out loud.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7772400" y="2926080"/>
            <a:ext cx="3749039" cy="1737360"/>
          </a:xfrm>
          <a:prstGeom prst="rect">
            <a:avLst/>
          </a:prstGeom>
          <a:solidFill>
            <a:srgbClr val="F5F6EC"/>
          </a:solidFill>
          <a:ln cap="flat" cmpd="sng" w="9525">
            <a:solidFill>
              <a:srgbClr val="A9AE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2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THIS PITCH IS NOT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A black box that promises to handle everything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It's one narrow, honest capability — see slide 05.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Property Ledger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/ 14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FE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/>
        </p:nvSpPr>
        <p:spPr>
          <a:xfrm>
            <a:off x="109728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5E5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WHY NOW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640080" y="384048"/>
            <a:ext cx="384048" cy="256032"/>
          </a:xfrm>
          <a:prstGeom prst="rect">
            <a:avLst/>
          </a:prstGeom>
          <a:solidFill>
            <a:srgbClr val="1F5E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ECEFE2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40080" y="777240"/>
            <a:ext cx="9601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Private landlords in Germany aren't a shrinking niche.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640080" y="1828800"/>
            <a:ext cx="5486400" cy="1417320"/>
          </a:xfrm>
          <a:prstGeom prst="rect">
            <a:avLst/>
          </a:prstGeom>
          <a:solidFill>
            <a:srgbClr val="F5F6EC"/>
          </a:solidFill>
          <a:ln cap="flat" cmpd="sng" w="9525">
            <a:solidFill>
              <a:srgbClr val="A9AE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2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PRIVATE-LANDLORD HOUSEHOLDS, DE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F5E56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r>
              <a:rPr b="1" i="0" lang="en-US" sz="2800">
                <a:solidFill>
                  <a:srgbClr val="1F5E56"/>
                </a:solidFill>
                <a:latin typeface="IBM Plex Sans"/>
                <a:ea typeface="IBM Plex Sans"/>
                <a:cs typeface="IBM Plex Sans"/>
                <a:sym typeface="IBM Plex Sans"/>
              </a:rPr>
              <a:t>M → </a:t>
            </a:r>
            <a:r>
              <a:rPr b="1" lang="en-US" sz="2800">
                <a:solidFill>
                  <a:srgbClr val="1F5E56"/>
                </a:solidFill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  <a:r>
              <a:rPr b="1" i="0" lang="en-US" sz="2800">
                <a:solidFill>
                  <a:srgbClr val="1F5E56"/>
                </a:solidFill>
                <a:latin typeface="IBM Plex Sans"/>
                <a:ea typeface="IBM Plex Sans"/>
                <a:cs typeface="IBM Plex Sans"/>
                <a:sym typeface="IBM Plex Sans"/>
              </a:rPr>
              <a:t>M+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6</a:t>
            </a:r>
            <a:r>
              <a:rPr b="0" i="0" lang="en-US" sz="10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% of the Total population, 2010→2022 — a </a:t>
            </a:r>
            <a:r>
              <a:rPr lang="en-US" sz="10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growing trend.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6309360" y="1828800"/>
            <a:ext cx="5486400" cy="1417320"/>
          </a:xfrm>
          <a:prstGeom prst="rect">
            <a:avLst/>
          </a:prstGeom>
          <a:solidFill>
            <a:srgbClr val="F5F6EC"/>
          </a:solidFill>
          <a:ln cap="flat" cmpd="sng" w="9525">
            <a:solidFill>
              <a:srgbClr val="A9AE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2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GERMANY IS MAJORITY-RENTER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1F5E56"/>
                </a:solidFill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  <a:r>
              <a:rPr b="1" lang="en-US" sz="2800">
                <a:solidFill>
                  <a:srgbClr val="1F5E56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r>
              <a:rPr b="1" i="0" lang="en-US" sz="2800">
                <a:solidFill>
                  <a:srgbClr val="1F5E56"/>
                </a:solidFill>
                <a:latin typeface="IBM Plex Sans"/>
                <a:ea typeface="IBM Plex Sans"/>
                <a:cs typeface="IBM Plex Sans"/>
                <a:sym typeface="IBM Plex Sans"/>
              </a:rPr>
              <a:t>%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of households rent (Zensus 2022) — the only EU country where more rent than own.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640080" y="3429000"/>
            <a:ext cx="5486400" cy="1417320"/>
          </a:xfrm>
          <a:prstGeom prst="rect">
            <a:avLst/>
          </a:prstGeom>
          <a:solidFill>
            <a:srgbClr val="F5F6EC"/>
          </a:solidFill>
          <a:ln cap="flat" cmpd="sng" w="9525">
            <a:solidFill>
              <a:srgbClr val="A9AE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2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FOREIGN POPULATION, DE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1F5E56"/>
                </a:solidFill>
                <a:latin typeface="IBM Plex Sans"/>
                <a:ea typeface="IBM Plex Sans"/>
                <a:cs typeface="IBM Plex Sans"/>
                <a:sym typeface="IBM Plex Sans"/>
              </a:rPr>
              <a:t>10.9M → 14.1M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+28.9%, 2018→2025 — skews toward </a:t>
            </a:r>
            <a:r>
              <a:rPr lang="en-US" sz="10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investing and renting (eg. Asia, </a:t>
            </a:r>
            <a:r>
              <a:rPr b="0" i="0" lang="en-US" sz="10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India </a:t>
            </a:r>
            <a:r>
              <a:rPr lang="en-US" sz="10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&amp; USA</a:t>
            </a:r>
            <a:r>
              <a:rPr b="0" i="0" lang="en-US" sz="10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).</a:t>
            </a:r>
            <a:endParaRPr b="0" i="0" sz="1050">
              <a:solidFill>
                <a:srgbClr val="1B2A2E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Foreign population growth is the sole driver of Germany’s overall population growth.</a:t>
            </a:r>
            <a:endParaRPr sz="1050">
              <a:solidFill>
                <a:srgbClr val="1B2A2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6309360" y="3429000"/>
            <a:ext cx="5486400" cy="1417320"/>
          </a:xfrm>
          <a:prstGeom prst="rect">
            <a:avLst/>
          </a:prstGeom>
          <a:solidFill>
            <a:srgbClr val="F5F6EC"/>
          </a:solidFill>
          <a:ln cap="flat" cmpd="sng" w="9525">
            <a:solidFill>
              <a:srgbClr val="A9AE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2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REAL-ESTATE AI HIRING, 2025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1F5E56"/>
                </a:solidFill>
                <a:latin typeface="IBM Plex Sans"/>
                <a:ea typeface="IBM Plex Sans"/>
                <a:cs typeface="IBM Plex Sans"/>
                <a:sym typeface="IBM Plex Sans"/>
              </a:rPr>
              <a:t>+93.5%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YoY, 2nd-fastest of any sector tracked — still early-stage.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40080" y="51206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SOURCE: IW Köln “Private Vermieter in Deutschland” (SOEP v39+Zensus) · Destatis Zensus 2022/AZR · Stanford HAI AI Index 2026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Property Ledger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03 / 14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FE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/>
        </p:nvSpPr>
        <p:spPr>
          <a:xfrm>
            <a:off x="109728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5E5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WHO THE CUSTOMER REALLY IS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640080" y="384048"/>
            <a:ext cx="384048" cy="256032"/>
          </a:xfrm>
          <a:prstGeom prst="rect">
            <a:avLst/>
          </a:prstGeom>
          <a:solidFill>
            <a:srgbClr val="1F5E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ECEFE2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40080" y="777240"/>
            <a:ext cx="9601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 a professional investor — someone with one apartment and a spreadsheet they don't trust.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640080" y="1965960"/>
            <a:ext cx="5120640" cy="1554480"/>
          </a:xfrm>
          <a:prstGeom prst="rect">
            <a:avLst/>
          </a:prstGeom>
          <a:solidFill>
            <a:srgbClr val="F5F6EC"/>
          </a:solidFill>
          <a:ln cap="flat" cmpd="sng" w="9525">
            <a:solidFill>
              <a:srgbClr val="A9AE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2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OWN AT MOST 2 PROPERTIES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1F5E56"/>
                </a:solidFill>
                <a:latin typeface="IBM Plex Sans"/>
                <a:ea typeface="IBM Plex Sans"/>
                <a:cs typeface="IBM Plex Sans"/>
                <a:sym typeface="IBM Plex Sans"/>
              </a:rPr>
              <a:t>~75% </a:t>
            </a:r>
            <a:r>
              <a:rPr i="0" lang="en-US" sz="1200">
                <a:solidFill>
                  <a:srgbClr val="1F5E56"/>
                </a:solidFill>
                <a:latin typeface="IBM Plex Sans"/>
                <a:ea typeface="IBM Plex Sans"/>
                <a:cs typeface="IBM Plex Sans"/>
                <a:sym typeface="IBM Plex Sans"/>
              </a:rPr>
              <a:t>(approx 3.75 </a:t>
            </a:r>
            <a:r>
              <a:rPr lang="en-US" sz="1200">
                <a:solidFill>
                  <a:srgbClr val="1F5E56"/>
                </a:solidFill>
                <a:latin typeface="IBM Plex Sans"/>
                <a:ea typeface="IBM Plex Sans"/>
                <a:cs typeface="IBM Plex Sans"/>
                <a:sym typeface="IBM Plex Sans"/>
              </a:rPr>
              <a:t>M)</a:t>
            </a:r>
            <a:endParaRPr sz="5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of private landlords (IW Köln Vermieterreport 2026, n=1,002) — and the 1-property share is rising: 55%→58%, 2024→2026.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40080" y="3931920"/>
            <a:ext cx="1005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Currently they have to spend approx 180 Euros/Year on other solutions in market to manage it.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SOURCE: IW Köln, Deutschland.Immobilien Vermieterreport 2026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Property Ledger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04 / 14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FE2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/>
        </p:nvSpPr>
        <p:spPr>
          <a:xfrm>
            <a:off x="109728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5E56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PITCH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640080" y="384048"/>
            <a:ext cx="384048" cy="256032"/>
          </a:xfrm>
          <a:prstGeom prst="rect">
            <a:avLst/>
          </a:prstGeom>
          <a:solidFill>
            <a:srgbClr val="1F5E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ECEFE2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40080" y="777240"/>
            <a:ext cx="9601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landlords are already your users. Give them the module they're missing.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40080" y="16916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5B665F"/>
                </a:solidFill>
                <a:latin typeface="IBM Plex Sans"/>
                <a:ea typeface="IBM Plex Sans"/>
                <a:cs typeface="IBM Plex Sans"/>
                <a:sym typeface="IBM Plex Sans"/>
              </a:rPr>
              <a:t>Chleo's platform already has private landlords as listing-side users. This isn't a new market — it's a second product for a customer she already has.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640080" y="2560320"/>
            <a:ext cx="2514600" cy="1828800"/>
          </a:xfrm>
          <a:prstGeom prst="rect">
            <a:avLst/>
          </a:prstGeom>
          <a:solidFill>
            <a:srgbClr val="F5F6EC"/>
          </a:solidFill>
          <a:ln cap="flat" cmpd="sng" w="9525">
            <a:solidFill>
              <a:srgbClr val="A9AE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46300" spcFirstLastPara="1" rIns="128000" wrap="square" tIns="12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1F5E56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Upload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5B665F"/>
                </a:solidFill>
                <a:latin typeface="IBM Plex Sans"/>
                <a:ea typeface="IBM Plex Sans"/>
                <a:cs typeface="IBM Plex Sans"/>
                <a:sym typeface="IBM Plex Sans"/>
              </a:rPr>
              <a:t>Landlord uploads a rent receipt, EMI statement, Nebenkosten invoice, or lease.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3291840" y="2560320"/>
            <a:ext cx="2514600" cy="1828800"/>
          </a:xfrm>
          <a:prstGeom prst="rect">
            <a:avLst/>
          </a:prstGeom>
          <a:solidFill>
            <a:srgbClr val="F5F6EC"/>
          </a:solidFill>
          <a:ln cap="flat" cmpd="sng" w="9525">
            <a:solidFill>
              <a:srgbClr val="A9AE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46300" spcFirstLastPara="1" rIns="128000" wrap="square" tIns="12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1F5E5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drafts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5B665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model extracts fields and rates its own confidence — never guesses silently.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5943600" y="2560320"/>
            <a:ext cx="2514600" cy="1828800"/>
          </a:xfrm>
          <a:prstGeom prst="rect">
            <a:avLst/>
          </a:prstGeom>
          <a:solidFill>
            <a:srgbClr val="F5F6EC"/>
          </a:solidFill>
          <a:ln cap="flat" cmpd="sng" w="9525">
            <a:solidFill>
              <a:srgbClr val="A9AE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46300" spcFirstLastPara="1" rIns="128000" wrap="square" tIns="12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1F5E5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Landlord confirms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5B665F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Nothing saves until a human reviews it. Low confidence gets flagged, not hidden.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8595360" y="2560320"/>
            <a:ext cx="2514600" cy="1828800"/>
          </a:xfrm>
          <a:prstGeom prst="rect">
            <a:avLst/>
          </a:prstGeom>
          <a:solidFill>
            <a:srgbClr val="F5F6EC"/>
          </a:solidFill>
          <a:ln cap="flat" cmpd="sng" w="9525">
            <a:solidFill>
              <a:srgbClr val="A9AE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46300" spcFirstLastPara="1" rIns="128000" wrap="square" tIns="12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1F5E5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Dashboard updates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5B665F"/>
                </a:solidFill>
                <a:latin typeface="IBM Plex Sans"/>
                <a:ea typeface="IBM Plex Sans"/>
                <a:cs typeface="IBM Plex Sans"/>
                <a:sym typeface="IBM Plex Sans"/>
              </a:rPr>
              <a:t>Portfolio profit &amp; loss, occupancy, and market comps — always current.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Property Ledger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05 / 14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640043" y="4709175"/>
            <a:ext cx="10470000" cy="1828800"/>
          </a:xfrm>
          <a:prstGeom prst="rect">
            <a:avLst/>
          </a:prstGeom>
          <a:solidFill>
            <a:srgbClr val="F5F6EC"/>
          </a:solidFill>
          <a:ln cap="flat" cmpd="sng" w="9525">
            <a:solidFill>
              <a:srgbClr val="A9AE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46300" spcFirstLastPara="1" rIns="128000" wrap="square" tIns="12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5E56"/>
                </a:solidFill>
                <a:latin typeface="IBM Plex Mono"/>
                <a:ea typeface="IBM Plex Mono"/>
                <a:cs typeface="IBM Plex Mono"/>
                <a:sym typeface="IBM Plex Mono"/>
              </a:rPr>
              <a:t>Additional</a:t>
            </a:r>
            <a:r>
              <a:rPr lang="en-US" sz="1100">
                <a:solidFill>
                  <a:srgbClr val="1F5E56"/>
                </a:solidFill>
                <a:latin typeface="IBM Plex Mono"/>
                <a:ea typeface="IBM Plex Mono"/>
                <a:cs typeface="IBM Plex Mono"/>
                <a:sym typeface="IBM Plex Mono"/>
              </a:rPr>
              <a:t> features (scoping for Round 2)</a:t>
            </a:r>
            <a:endParaRPr/>
          </a:p>
          <a:p>
            <a:pPr indent="-31115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1B2A2E"/>
              </a:buClr>
              <a:buSzPts val="1300"/>
              <a:buFont typeface="IBM Plex Sans"/>
              <a:buChar char="●"/>
            </a:pPr>
            <a:r>
              <a:rPr b="1" lang="en-US" sz="13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Direct Bank Connections for checking incoming rent, reminders to tenants (nice to have) for automatic pull of statements</a:t>
            </a:r>
            <a:endParaRPr b="1" sz="1300">
              <a:solidFill>
                <a:srgbClr val="1B2A2E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B2A2E"/>
              </a:buClr>
              <a:buSzPts val="1300"/>
              <a:buFont typeface="IBM Plex Sans"/>
              <a:buChar char="●"/>
            </a:pPr>
            <a:r>
              <a:rPr b="1" lang="en-US" sz="13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Manage the costs and profits (Must have)</a:t>
            </a:r>
            <a:endParaRPr b="1" sz="1300">
              <a:solidFill>
                <a:srgbClr val="1B2A2E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B2A2E"/>
              </a:buClr>
              <a:buSzPts val="1300"/>
              <a:buFont typeface="IBM Plex Sans"/>
              <a:buChar char="●"/>
            </a:pPr>
            <a:r>
              <a:rPr b="1" lang="en-US" sz="13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Automated Rental Contract Generation (Could have)</a:t>
            </a:r>
            <a:endParaRPr b="1" sz="1300">
              <a:solidFill>
                <a:srgbClr val="1B2A2E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B2A2E"/>
              </a:buClr>
              <a:buSzPts val="1300"/>
              <a:buFont typeface="IBM Plex Sans"/>
              <a:buChar char="●"/>
            </a:pPr>
            <a:r>
              <a:rPr b="1" lang="en-US" sz="13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Tax Savings Advisor Bot (Should have)</a:t>
            </a:r>
            <a:endParaRPr b="1" sz="1300">
              <a:solidFill>
                <a:srgbClr val="1B2A2E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B2A2E"/>
              </a:buClr>
              <a:buSzPts val="1300"/>
              <a:buFont typeface="IBM Plex Sans"/>
              <a:buChar char="●"/>
            </a:pPr>
            <a:r>
              <a:rPr b="1" lang="en-US" sz="13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Tenants complaints management (Could have)</a:t>
            </a:r>
            <a:endParaRPr b="1" sz="1300">
              <a:solidFill>
                <a:srgbClr val="1B2A2E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FE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/>
        </p:nvSpPr>
        <p:spPr>
          <a:xfrm>
            <a:off x="1097280" y="411480"/>
            <a:ext cx="9144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5E56"/>
                </a:solidFill>
                <a:latin typeface="IBM Plex Mono"/>
                <a:ea typeface="IBM Plex Mono"/>
                <a:cs typeface="IBM Plex Mono"/>
                <a:sym typeface="IBM Plex Mono"/>
              </a:rPr>
              <a:t>Pilot - Answering your fear</a:t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640080" y="384048"/>
            <a:ext cx="384048" cy="256032"/>
          </a:xfrm>
          <a:prstGeom prst="rect">
            <a:avLst/>
          </a:prstGeom>
          <a:solidFill>
            <a:srgbClr val="1F5E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ECEFE2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640080" y="777240"/>
            <a:ext cx="9601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“AI isn't transparent” — here's what we built so that objection doesn't hold.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40080" y="1828800"/>
            <a:ext cx="64008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 </a:t>
            </a:r>
            <a:r>
              <a:rPr lang="en-US" sz="13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b="0" i="0" lang="en-US" sz="13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Index 2026's MortgageTax benchmark: even frontier models don't reliably exceed 69.4% accuracy on real financial documents. We designed around that number, not a marketing claim.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  Every extraction is a draft, never a save. The confidence threshold is set at that same 0.70 ceiling — not a round number picked for looks.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  Every model call is traced in LangSmith — what it saw, what it returned, why it was or wasn't flagged. Inspectable, not a black box.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7680960" y="1828800"/>
            <a:ext cx="3840480" cy="1371600"/>
          </a:xfrm>
          <a:prstGeom prst="rect">
            <a:avLst/>
          </a:prstGeom>
          <a:solidFill>
            <a:srgbClr val="F5F6EC"/>
          </a:solidFill>
          <a:ln cap="flat" cmpd="sng" w="9525">
            <a:solidFill>
              <a:srgbClr val="A9AE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2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SAMPLE: CLEAN DOCUMENT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confidence 0.98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7818120" y="2880360"/>
            <a:ext cx="1554480" cy="310896"/>
          </a:xfrm>
          <a:prstGeom prst="roundRect">
            <a:avLst>
              <a:gd fmla="val 16667" name="adj"/>
            </a:avLst>
          </a:prstGeom>
          <a:solidFill>
            <a:srgbClr val="DCEAD9"/>
          </a:solidFill>
          <a:ln cap="flat" cmpd="sng" w="9525">
            <a:solidFill>
              <a:srgbClr val="3F7D4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F7D4C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CONFIRMED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7680960" y="3429000"/>
            <a:ext cx="3840480" cy="1371600"/>
          </a:xfrm>
          <a:prstGeom prst="rect">
            <a:avLst/>
          </a:prstGeom>
          <a:solidFill>
            <a:srgbClr val="F5F6EC"/>
          </a:solidFill>
          <a:ln cap="flat" cmpd="sng" w="9525">
            <a:solidFill>
              <a:srgbClr val="A9AE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2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SAMPLE: GARBLED SCAN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confidence 0.50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7818120" y="4480560"/>
            <a:ext cx="1554480" cy="310896"/>
          </a:xfrm>
          <a:prstGeom prst="roundRect">
            <a:avLst>
              <a:gd fmla="val 16667" name="adj"/>
            </a:avLst>
          </a:prstGeom>
          <a:solidFill>
            <a:srgbClr val="F2E2CD"/>
          </a:solidFill>
          <a:ln cap="flat" cmpd="sng" w="9525">
            <a:solidFill>
              <a:srgbClr val="B572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B5722A"/>
                </a:solidFill>
                <a:latin typeface="IBM Plex Mono"/>
                <a:ea typeface="IBM Plex Mono"/>
                <a:cs typeface="IBM Plex Mono"/>
                <a:sym typeface="IBM Plex Mono"/>
              </a:rPr>
              <a:t>NEEDS REVIEW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SOURCE: AI Index Report 2026 §2.5 (MortgageTax) · langsmith/run_monitoring_sample.py, actually executed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Property Ledger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06 / 14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FE2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/>
        </p:nvSpPr>
        <p:spPr>
          <a:xfrm>
            <a:off x="109728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5E56"/>
                </a:solidFill>
                <a:latin typeface="IBM Plex Mono"/>
                <a:ea typeface="IBM Plex Mono"/>
                <a:cs typeface="IBM Plex Mono"/>
                <a:sym typeface="IBM Plex Mono"/>
              </a:rPr>
              <a:t>RISKS, NAMED — NOT BURIED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640080" y="384048"/>
            <a:ext cx="384048" cy="256032"/>
          </a:xfrm>
          <a:prstGeom prst="rect">
            <a:avLst/>
          </a:prstGeom>
          <a:solidFill>
            <a:srgbClr val="1F5E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ECEFE2"/>
                </a:solidFill>
                <a:latin typeface="IBM Plex Mono"/>
                <a:ea typeface="IBM Plex Mono"/>
                <a:cs typeface="IBM Plex Mono"/>
                <a:sym typeface="IBM Plex Mono"/>
              </a:rPr>
              <a:t>0</a:t>
            </a:r>
            <a:r>
              <a:rPr b="1" lang="en-US" sz="1000">
                <a:solidFill>
                  <a:srgbClr val="ECEFE2"/>
                </a:solidFill>
                <a:latin typeface="IBM Plex Mono"/>
                <a:ea typeface="IBM Plex Mono"/>
                <a:cs typeface="IBM Plex Mono"/>
                <a:sym typeface="IBM Plex Mono"/>
              </a:rPr>
              <a:t>7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640080" y="777240"/>
            <a:ext cx="9601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could go wrong, and where we've deliberately drawn the line.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640080" y="1828800"/>
            <a:ext cx="54864" cy="1554480"/>
          </a:xfrm>
          <a:prstGeom prst="rect">
            <a:avLst/>
          </a:prstGeom>
          <a:solidFill>
            <a:srgbClr val="B572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694944" y="1828800"/>
            <a:ext cx="4937760" cy="1554480"/>
          </a:xfrm>
          <a:prstGeom prst="rect">
            <a:avLst/>
          </a:prstGeom>
          <a:solidFill>
            <a:srgbClr val="F5F6E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28000" wrap="square" tIns="12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B5722A"/>
                </a:solidFill>
                <a:latin typeface="IBM Plex Mono"/>
                <a:ea typeface="IBM Plex Mono"/>
                <a:cs typeface="IBM Plex Mono"/>
                <a:sym typeface="IBM Plex Mono"/>
              </a:rPr>
              <a:t>TECHNICAL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Document extraction tops out around 70% accuracy on real financial documents — designed around with mandatory human review, not hidden.</a:t>
            </a:r>
            <a:endParaRPr b="0" i="0" sz="1250">
              <a:solidFill>
                <a:srgbClr val="1B2A2E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Bank API connections can be unstable(costs also not taken into considerations) - Provide options to upload the bank </a:t>
            </a:r>
            <a:r>
              <a:rPr lang="en-US" sz="12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statement</a:t>
            </a:r>
            <a:r>
              <a:rPr lang="en-US" sz="12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 manually, once in a </a:t>
            </a:r>
            <a:r>
              <a:rPr lang="en-US" sz="12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month</a:t>
            </a:r>
            <a:r>
              <a:rPr lang="en-US" sz="12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sz="1250">
              <a:solidFill>
                <a:srgbClr val="1B2A2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6309360" y="1828800"/>
            <a:ext cx="54864" cy="1554480"/>
          </a:xfrm>
          <a:prstGeom prst="rect">
            <a:avLst/>
          </a:prstGeom>
          <a:solidFill>
            <a:srgbClr val="B572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6364224" y="1828800"/>
            <a:ext cx="4937760" cy="1554480"/>
          </a:xfrm>
          <a:prstGeom prst="rect">
            <a:avLst/>
          </a:prstGeom>
          <a:solidFill>
            <a:srgbClr val="F5F6E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28000" wrap="square" tIns="12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B5722A"/>
                </a:solidFill>
                <a:latin typeface="IBM Plex Mono"/>
                <a:ea typeface="IBM Plex Mono"/>
                <a:cs typeface="IBM Plex Mono"/>
                <a:sym typeface="IBM Plex Mono"/>
              </a:rPr>
              <a:t>REGULATORY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Uploaded documents are sensitive financial data — a real GDPR surface (legal basis, DPIA, third-party processor) </a:t>
            </a:r>
            <a:r>
              <a:rPr lang="en-US" sz="12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- Risk is low as the system will be GDPR complaint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6309360" y="3657600"/>
            <a:ext cx="54864" cy="1554480"/>
          </a:xfrm>
          <a:prstGeom prst="rect">
            <a:avLst/>
          </a:prstGeom>
          <a:solidFill>
            <a:srgbClr val="5B66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6364224" y="3657600"/>
            <a:ext cx="4937760" cy="1554480"/>
          </a:xfrm>
          <a:prstGeom prst="rect">
            <a:avLst/>
          </a:prstGeom>
          <a:solidFill>
            <a:srgbClr val="F5F6E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28000" wrap="square" tIns="12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 </a:t>
            </a:r>
            <a:r>
              <a:rPr b="1" i="0" lang="en-US" sz="10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ADOPTION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Our own custome</a:t>
            </a:r>
            <a:r>
              <a:rPr lang="en-US" sz="12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r </a:t>
            </a:r>
            <a:r>
              <a:rPr b="0" i="0" lang="en-US" sz="12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is price-sensitive and low-tech-sophistication — </a:t>
            </a:r>
            <a:r>
              <a:rPr lang="en-US" sz="12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But keeping the costs low and providing value will drive adoption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Property Ledger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09 / 14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FE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/>
        </p:nvSpPr>
        <p:spPr>
          <a:xfrm>
            <a:off x="1097280" y="411480"/>
            <a:ext cx="9144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5E56"/>
                </a:solidFill>
                <a:latin typeface="IBM Plex Mono"/>
                <a:ea typeface="IBM Plex Mono"/>
                <a:cs typeface="IBM Plex Mono"/>
                <a:sym typeface="IBM Plex Mono"/>
              </a:rPr>
              <a:t>MONETIZATION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640080" y="384048"/>
            <a:ext cx="384048" cy="256032"/>
          </a:xfrm>
          <a:prstGeom prst="rect">
            <a:avLst/>
          </a:prstGeom>
          <a:solidFill>
            <a:srgbClr val="1F5E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ECEFE2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640080" y="777240"/>
            <a:ext cx="9601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Would €2 a month even be worth charging?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640080" y="169164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Assume 150,000 new rental properties enter the German market each year. </a:t>
            </a:r>
            <a:r>
              <a:rPr lang="en-US" sz="15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P</a:t>
            </a:r>
            <a:r>
              <a:rPr b="0" i="0" lang="en-US" sz="15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rivate-landlord households grew by +1.8M over 2010–2022 (slide 03), which averages to almost 150,000/year.</a:t>
            </a:r>
            <a:endParaRPr/>
          </a:p>
        </p:txBody>
      </p:sp>
      <p:graphicFrame>
        <p:nvGraphicFramePr>
          <p:cNvPr id="181" name="Google Shape;181;p20"/>
          <p:cNvGraphicFramePr/>
          <p:nvPr/>
        </p:nvGraphicFramePr>
        <p:xfrm>
          <a:off x="640080" y="30632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{65C3613F-AC12-4119-B999-A2B09C365D6C}</a:tableStyleId>
              </a:tblPr>
              <a:tblGrid>
                <a:gridCol w="2190750"/>
                <a:gridCol w="2044700"/>
                <a:gridCol w="2044700"/>
                <a:gridCol w="1523675"/>
                <a:gridCol w="271177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5B665F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Market capture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5B665F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Landlords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5B665F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Revenue / month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5B665F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Revenue / year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5B665F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What Landlords currently Paying per year(eg. </a:t>
                      </a:r>
                      <a:r>
                        <a:rPr lang="en-US" sz="1100">
                          <a:solidFill>
                            <a:srgbClr val="5B665F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Immoscout</a:t>
                      </a:r>
                      <a:r>
                        <a:rPr lang="en-US" sz="1100">
                          <a:solidFill>
                            <a:srgbClr val="5B665F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)</a:t>
                      </a:r>
                      <a:endParaRPr b="1" sz="1100">
                        <a:solidFill>
                          <a:srgbClr val="5B665F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45725" marB="45725" marR="91450" marL="91450">
                    <a:solidFill>
                      <a:srgbClr val="F5F6E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5%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7,500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€15,000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€180,000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€0.99M</a:t>
                      </a:r>
                      <a:endParaRPr sz="1300">
                        <a:solidFill>
                          <a:srgbClr val="1B2A2E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10%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15,000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€30,000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€360,000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€1.8M</a:t>
                      </a:r>
                      <a:endParaRPr sz="1300">
                        <a:solidFill>
                          <a:srgbClr val="1B2A2E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25%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37,500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€75,000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€900,000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€4.9M</a:t>
                      </a:r>
                      <a:endParaRPr sz="1300">
                        <a:solidFill>
                          <a:srgbClr val="1B2A2E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100% (ceiling)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150,000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€300,000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€3,6M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€20M</a:t>
                      </a:r>
                      <a:endParaRPr sz="1300">
                        <a:solidFill>
                          <a:srgbClr val="1B2A2E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</a:tr>
            </a:tbl>
          </a:graphicData>
        </a:graphic>
      </p:graphicFrame>
      <p:sp>
        <p:nvSpPr>
          <p:cNvPr id="182" name="Google Shape;182;p20"/>
          <p:cNvSpPr txBox="1"/>
          <p:nvPr/>
        </p:nvSpPr>
        <p:spPr>
          <a:xfrm>
            <a:off x="640080" y="5074920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SOURCE: IW Köln SOEP v39+Zensus (see slide 03) · 150,000/year is illustrative market sizing, not a verified external forecast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Property Ledger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13 / 14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FE2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/>
        </p:nvSpPr>
        <p:spPr>
          <a:xfrm>
            <a:off x="1097280" y="411480"/>
            <a:ext cx="9144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5E5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UNIT ECONOMICS</a:t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640080" y="384048"/>
            <a:ext cx="384048" cy="256032"/>
          </a:xfrm>
          <a:prstGeom prst="rect">
            <a:avLst/>
          </a:prstGeom>
          <a:solidFill>
            <a:srgbClr val="1F5E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ECEFE2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640080" y="777240"/>
            <a:ext cx="9601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math holds even at the lowest defensible price.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640080" y="1828800"/>
            <a:ext cx="4846320" cy="1371600"/>
          </a:xfrm>
          <a:prstGeom prst="rect">
            <a:avLst/>
          </a:prstGeom>
          <a:solidFill>
            <a:srgbClr val="F5F6EC"/>
          </a:solidFill>
          <a:ln cap="flat" cmpd="sng" w="9525">
            <a:solidFill>
              <a:srgbClr val="A9AE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2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VARIABLE COST PER LANDLORD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1F5E56"/>
                </a:solidFill>
                <a:latin typeface="IBM Plex Sans"/>
                <a:ea typeface="IBM Plex Sans"/>
                <a:cs typeface="IBM Plex Sans"/>
                <a:sym typeface="IBM Plex Sans"/>
              </a:rPr>
              <a:t>~€0.02–0.04/mo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extraction cost, blended — from cost_estimation/cost_analysis.md.</a:t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640080" y="3337560"/>
            <a:ext cx="4846320" cy="1554480"/>
          </a:xfrm>
          <a:prstGeom prst="rect">
            <a:avLst/>
          </a:prstGeom>
          <a:solidFill>
            <a:srgbClr val="F5F6EC"/>
          </a:solidFill>
          <a:ln cap="flat" cmpd="sng" w="9525">
            <a:solidFill>
              <a:srgbClr val="A9AE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2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FIXED MONTHLY COST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1F5E56"/>
                </a:solidFill>
                <a:latin typeface="IBM Plex Sans"/>
                <a:ea typeface="IBM Plex Sans"/>
                <a:cs typeface="IBM Plex Sans"/>
                <a:sym typeface="IBM Plex Sans"/>
              </a:rPr>
              <a:t>~€2,665–2,685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Tableau+n8n tooling (~€70–90) plus 0.1 FTE maintenance at the same €150/hr rate already used in the cost estimate.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6126480" y="1828800"/>
            <a:ext cx="5394960" cy="1371600"/>
          </a:xfrm>
          <a:prstGeom prst="rect">
            <a:avLst/>
          </a:prstGeom>
          <a:solidFill>
            <a:srgbClr val="F5F6EC"/>
          </a:solidFill>
          <a:ln cap="flat" cmpd="sng" w="9525">
            <a:solidFill>
              <a:srgbClr val="A9AE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2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BREAKEVEN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~1,340 landlords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Under 1% of the 150,000/year addressable pool — inside the pilot scale already discussed.</a:t>
            </a:r>
            <a:endParaRPr/>
          </a:p>
        </p:txBody>
      </p:sp>
      <p:graphicFrame>
        <p:nvGraphicFramePr>
          <p:cNvPr id="196" name="Google Shape;196;p21"/>
          <p:cNvGraphicFramePr/>
          <p:nvPr/>
        </p:nvGraphicFramePr>
        <p:xfrm>
          <a:off x="6126480" y="33832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{65C3613F-AC12-4119-B999-A2B09C365D6C}</a:tableStyleId>
              </a:tblPr>
              <a:tblGrid>
                <a:gridCol w="1554475"/>
                <a:gridCol w="1280150"/>
                <a:gridCol w="1280150"/>
                <a:gridCol w="1280150"/>
              </a:tblGrid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5B665F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Landlords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5B665F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Revenue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5B665F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Cost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5B665F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Margin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EC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2,000 (pilot)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€4,000/mo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€2,765/mo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+31%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15,000 (10%)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€30,000/mo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€3,285/mo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+89%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75</a:t>
                      </a: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,000 (50%)</a:t>
                      </a:r>
                      <a:endParaRPr sz="1300">
                        <a:solidFill>
                          <a:srgbClr val="1B2A2E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€150,000/mo</a:t>
                      </a:r>
                      <a:endParaRPr sz="1300">
                        <a:solidFill>
                          <a:srgbClr val="1B2A2E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€4,500/mo</a:t>
                      </a:r>
                      <a:endParaRPr sz="1300">
                        <a:solidFill>
                          <a:srgbClr val="1B2A2E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+97%</a:t>
                      </a:r>
                      <a:endParaRPr sz="1300">
                        <a:solidFill>
                          <a:srgbClr val="1B2A2E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</a:tr>
            </a:tbl>
          </a:graphicData>
        </a:graphic>
      </p:graphicFrame>
      <p:sp>
        <p:nvSpPr>
          <p:cNvPr id="197" name="Google Shape;197;p21"/>
          <p:cNvSpPr txBox="1"/>
          <p:nvPr/>
        </p:nvSpPr>
        <p:spPr>
          <a:xfrm>
            <a:off x="640080" y="5074920"/>
            <a:ext cx="1051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Even the pilot scale already discussed elsewhere in this deck is profitable at €2/month. 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SOURCE: cost_estimation/cost_analysis.md — unit costs cited to public pricing; breakeven/margin computed here, not previously published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Property Ledger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14 / 14</a:t>
            </a:r>
            <a:endParaRPr/>
          </a:p>
        </p:txBody>
      </p:sp>
      <p:pic>
        <p:nvPicPr>
          <p:cNvPr descr="two stacks of green bills with a gold ribbon (Provided by Tenor)" id="201" name="Google Shape;2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8141" y="572625"/>
            <a:ext cx="1335460" cy="92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FE2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/>
        </p:nvSpPr>
        <p:spPr>
          <a:xfrm>
            <a:off x="1097280" y="411480"/>
            <a:ext cx="9144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5E5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PROJECT PLAN (POC and then </a:t>
            </a:r>
            <a:r>
              <a:rPr b="1" lang="en-US" sz="1100">
                <a:solidFill>
                  <a:srgbClr val="1F5E56"/>
                </a:solidFill>
                <a:latin typeface="IBM Plex Mono"/>
                <a:ea typeface="IBM Plex Mono"/>
                <a:cs typeface="IBM Plex Mono"/>
                <a:sym typeface="IBM Plex Mono"/>
              </a:rPr>
              <a:t>3 month to Production)</a:t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640080" y="384048"/>
            <a:ext cx="384000" cy="255900"/>
          </a:xfrm>
          <a:prstGeom prst="rect">
            <a:avLst/>
          </a:prstGeom>
          <a:solidFill>
            <a:srgbClr val="1F5E5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ECEFE2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r>
              <a:rPr b="1" lang="en-US" sz="1000">
                <a:solidFill>
                  <a:srgbClr val="ECEFE2"/>
                </a:solidFill>
                <a:latin typeface="IBM Plex Mono"/>
                <a:ea typeface="IBM Plex Mono"/>
                <a:cs typeface="IBM Plex Mono"/>
                <a:sym typeface="IBM Plex Mono"/>
              </a:rPr>
              <a:t>0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640080" y="777240"/>
            <a:ext cx="9601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ships when — priority follows the customer, not the demo.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640080" y="1691640"/>
            <a:ext cx="10515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Scoped as a MoSCoW backlog. The order isn't about what's technically impressive — it's about what the landlord from slide 04 (small portfolio, side income, low tech-sophistication) actually needs first.</a:t>
            </a:r>
            <a:endParaRPr/>
          </a:p>
        </p:txBody>
      </p:sp>
      <p:graphicFrame>
        <p:nvGraphicFramePr>
          <p:cNvPr id="210" name="Google Shape;210;p22"/>
          <p:cNvGraphicFramePr/>
          <p:nvPr/>
        </p:nvGraphicFramePr>
        <p:xfrm>
          <a:off x="640080" y="2743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{65C3613F-AC12-4119-B999-A2B09C365D6C}</a:tableStyleId>
              </a:tblPr>
              <a:tblGrid>
                <a:gridCol w="1463050"/>
                <a:gridCol w="3108950"/>
                <a:gridCol w="59436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5B665F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Priority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5B665F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Feature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5B665F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Status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6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Must have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Manage the costs &amp; profits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Built - Round 1 core (extraction + dashboard); Round 2 hardens to production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Should have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Tax savings advisor bot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New - Round 2/3 candidate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Could have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Automated rental contract generation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Adjacent to lease-extraction already built - inverse direction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Could have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Tenant complaints management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Adjacent to maintenance-request tracking already prototyped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Nice to have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Direct bank connections (rent verification, tenant reminders, auto statement pull)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B2A2E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Already demoed end to end (Enable Banking Mock ASPSP) - lowest priority, most de-risked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CEFE2"/>
                    </a:solidFill>
                  </a:tcPr>
                </a:tc>
              </a:tr>
            </a:tbl>
          </a:graphicData>
        </a:graphic>
      </p:graphicFrame>
      <p:sp>
        <p:nvSpPr>
          <p:cNvPr id="211" name="Google Shape;211;p22"/>
          <p:cNvSpPr txBox="1"/>
          <p:nvPr/>
        </p:nvSpPr>
        <p:spPr>
          <a:xfrm>
            <a:off x="640080" y="6492240"/>
            <a:ext cx="365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Property Ledger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10789920" y="6492240"/>
            <a:ext cx="914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15 / 15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FE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/>
          <p:nvPr/>
        </p:nvSpPr>
        <p:spPr>
          <a:xfrm>
            <a:off x="109728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F5E5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RECORDED AFTER THIS PRESENTATION</a:t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640080" y="384048"/>
            <a:ext cx="384048" cy="256032"/>
          </a:xfrm>
          <a:prstGeom prst="rect">
            <a:avLst/>
          </a:prstGeom>
          <a:solidFill>
            <a:srgbClr val="1F5E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ECEFE2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r>
              <a:rPr b="1" lang="en-US" sz="1000">
                <a:solidFill>
                  <a:srgbClr val="ECEFE2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640080" y="777240"/>
            <a:ext cx="9601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Keep or change — written down honestly, not decided in advance.</a:t>
            </a:r>
            <a:endParaRPr/>
          </a:p>
        </p:txBody>
      </p:sp>
      <p:sp>
        <p:nvSpPr>
          <p:cNvPr id="220" name="Google Shape;220;p23"/>
          <p:cNvSpPr/>
          <p:nvPr/>
        </p:nvSpPr>
        <p:spPr>
          <a:xfrm>
            <a:off x="640071" y="1920250"/>
            <a:ext cx="9601200" cy="1737300"/>
          </a:xfrm>
          <a:prstGeom prst="rect">
            <a:avLst/>
          </a:prstGeom>
          <a:solidFill>
            <a:srgbClr val="F5F6EC"/>
          </a:solidFill>
          <a:ln cap="flat" cmpd="sng" w="9525">
            <a:solidFill>
              <a:srgbClr val="A9AE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2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DECISION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Keep</a:t>
            </a:r>
            <a:endParaRPr/>
          </a:p>
          <a:p>
            <a:pPr indent="-317500" lvl="0" marL="457200" marR="0" rtl="0" algn="l">
              <a:spcBef>
                <a:spcPts val="400"/>
              </a:spcBef>
              <a:spcAft>
                <a:spcPts val="0"/>
              </a:spcAft>
              <a:buSzPts val="1400"/>
              <a:buChar char="-"/>
            </a:pPr>
            <a:r>
              <a:rPr lang="en-US" sz="10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Project Idea is good, keep the industry and company size</a:t>
            </a:r>
            <a:endParaRPr sz="1050">
              <a:solidFill>
                <a:srgbClr val="1B2A2E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B2A2E"/>
              </a:buClr>
              <a:buSzPts val="1050"/>
              <a:buFont typeface="IBM Plex Sans"/>
              <a:buChar char="-"/>
            </a:pPr>
            <a:r>
              <a:rPr lang="en-US" sz="10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 Supabase for the DB (Postgres)</a:t>
            </a:r>
            <a:endParaRPr sz="1050">
              <a:solidFill>
                <a:srgbClr val="1B2A2E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B2A2E"/>
              </a:buClr>
              <a:buSzPts val="1050"/>
              <a:buFont typeface="IBM Plex Sans"/>
              <a:buChar char="-"/>
            </a:pPr>
            <a:r>
              <a:rPr lang="en-US" sz="105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Reduce the scope (bank account connections - nice to have) and use </a:t>
            </a:r>
            <a:endParaRPr sz="1050">
              <a:solidFill>
                <a:srgbClr val="1B2A2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6492240" y="1920240"/>
            <a:ext cx="502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Property Ledger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 / 14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FE2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 txBox="1"/>
          <p:nvPr/>
        </p:nvSpPr>
        <p:spPr>
          <a:xfrm>
            <a:off x="1097280" y="411480"/>
            <a:ext cx="9144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5E56"/>
                </a:solidFill>
                <a:latin typeface="IBM Plex Mono"/>
                <a:ea typeface="IBM Plex Mono"/>
                <a:cs typeface="IBM Plex Mono"/>
                <a:sym typeface="IBM Plex Mono"/>
              </a:rPr>
              <a:t>Appendix</a:t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640080" y="384048"/>
            <a:ext cx="384000" cy="255900"/>
          </a:xfrm>
          <a:prstGeom prst="rect">
            <a:avLst/>
          </a:prstGeom>
          <a:solidFill>
            <a:srgbClr val="1F5E5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ECEFE2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640080" y="777240"/>
            <a:ext cx="9601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Tableau Dashboard &amp; Supporting Graphs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711762" y="1346700"/>
            <a:ext cx="1114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B2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https://public.tableau.com/views/Capstone_Dashboard_Vittal/Dashboard1?:language=en-GB&amp;:sid=&amp;:redirect=auth&amp;:display_count=n&amp;:origin=viz_share_link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640080" y="6492240"/>
            <a:ext cx="365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Property Ledger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10789920" y="6492240"/>
            <a:ext cx="914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 / 14</a:t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475" y="2022300"/>
            <a:ext cx="6324137" cy="4317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6095" y="2022300"/>
            <a:ext cx="4678223" cy="178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FE2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5"/>
          <p:cNvSpPr txBox="1"/>
          <p:nvPr/>
        </p:nvSpPr>
        <p:spPr>
          <a:xfrm>
            <a:off x="1097280" y="411480"/>
            <a:ext cx="9144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5E56"/>
                </a:solidFill>
                <a:latin typeface="IBM Plex Mono"/>
                <a:ea typeface="IBM Plex Mono"/>
                <a:cs typeface="IBM Plex Mono"/>
                <a:sym typeface="IBM Plex Mono"/>
              </a:rPr>
              <a:t>Langsmith Tracking</a:t>
            </a:r>
            <a:endParaRPr/>
          </a:p>
        </p:txBody>
      </p:sp>
      <p:sp>
        <p:nvSpPr>
          <p:cNvPr id="241" name="Google Shape;241;p25"/>
          <p:cNvSpPr/>
          <p:nvPr/>
        </p:nvSpPr>
        <p:spPr>
          <a:xfrm>
            <a:off x="640080" y="384048"/>
            <a:ext cx="384000" cy="255900"/>
          </a:xfrm>
          <a:prstGeom prst="rect">
            <a:avLst/>
          </a:prstGeom>
          <a:solidFill>
            <a:srgbClr val="1F5E5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ECEFE2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r>
              <a:rPr b="1" lang="en-US" sz="1000">
                <a:solidFill>
                  <a:srgbClr val="ECEFE2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endParaRPr/>
          </a:p>
        </p:txBody>
      </p:sp>
      <p:sp>
        <p:nvSpPr>
          <p:cNvPr id="242" name="Google Shape;242;p25"/>
          <p:cNvSpPr txBox="1"/>
          <p:nvPr/>
        </p:nvSpPr>
        <p:spPr>
          <a:xfrm>
            <a:off x="640080" y="6492240"/>
            <a:ext cx="3657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Property Ledger</a:t>
            </a:r>
            <a:endParaRPr/>
          </a:p>
        </p:txBody>
      </p:sp>
      <p:sp>
        <p:nvSpPr>
          <p:cNvPr id="243" name="Google Shape;243;p25"/>
          <p:cNvSpPr txBox="1"/>
          <p:nvPr/>
        </p:nvSpPr>
        <p:spPr>
          <a:xfrm>
            <a:off x="10789920" y="6492240"/>
            <a:ext cx="914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65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 / 14</a:t>
            </a:r>
            <a:endParaRPr/>
          </a:p>
        </p:txBody>
      </p:sp>
      <p:pic>
        <p:nvPicPr>
          <p:cNvPr id="244" name="Google Shape;2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375" y="1491205"/>
            <a:ext cx="11886874" cy="2906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95540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