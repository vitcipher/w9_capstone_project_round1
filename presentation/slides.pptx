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5F"/>
                </a:solidFill>
                <a:latin typeface="IBM Plex Mono"/>
              </a:rPr>
              <a:t>ROUND 1 — AI CONSULTING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1B2A2E"/>
                </a:solidFill>
                <a:latin typeface="IBM Plex Sans"/>
              </a:rPr>
              <a:t>The Property Ledger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B665F"/>
                </a:solidFill>
                <a:latin typeface="IBM Plex Sans"/>
              </a:rPr>
              <a:t>A property-management module for private landlords, pitched to Chleo — CEO of an existing property listing platform who isn't sure what “the AI” actually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B665F"/>
                </a:solidFill>
                <a:latin typeface="IBM Plex Mono"/>
              </a:rPr>
              <a:t>Prepared for the Round 1 teaching-staff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THE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B2A2E"/>
                </a:solidFill>
                <a:latin typeface="IBM Plex Sans"/>
              </a:rPr>
              <a:t>Chleo just finished asking the question every AI pitch dreads.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875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B2A2E"/>
                </a:solidFill>
                <a:latin typeface="IBM Plex Sans"/>
              </a:rPr>
              <a:t>She runs a property listing platform. She's heard the AI hype, and she's scared it isn't transparent — she doesn't know what “the AI” is, or how she'd explain it to her own team if something went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B2A2E"/>
                </a:solidFill>
                <a:latin typeface="IBM Plex Sans"/>
              </a:rPr>
              <a:t>—  She isn't asking for a moonshot. She's asking for something she can look at and understand.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B2A2E"/>
                </a:solidFill>
                <a:latin typeface="IBM Plex Sans"/>
              </a:rPr>
              <a:t>—  This pitch is built to answer her fear directly, not talk around it — every claim is cited, every limit is stated out loud.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926080"/>
            <a:ext cx="3749039" cy="173736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WHAT THIS PITCH IS NOT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1B2A2E"/>
                </a:solidFill>
                <a:latin typeface="IBM Plex Sans"/>
              </a:rPr>
              <a:t>A black box that promises to handle everything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It's one narrow, honest capability — see slide 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2E"/>
                </a:solidFill>
                <a:latin typeface="IBM Plex Sans"/>
              </a:rPr>
              <a:t>Private landlords in Germany aren't a shrinking niche.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141732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PRIVATE-LANDLORD HOUSEHOLDS, DE</a:t>
            </a:r>
          </a:p>
          <a:p>
            <a:pPr>
              <a:spcAft>
                <a:spcPts val="400"/>
              </a:spcAft>
            </a:pPr>
            <a:r>
              <a:rPr sz="2800" b="1" i="0">
                <a:solidFill>
                  <a:srgbClr val="1F5E56"/>
                </a:solidFill>
                <a:latin typeface="IBM Plex Sans"/>
              </a:rPr>
              <a:t>3.7M → 5.5M+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10% → 13% of the population, 2010→2022 — a genuine structural shift.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486400" cy="141732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GERMANY IS MAJORITY-RENTER</a:t>
            </a:r>
          </a:p>
          <a:p>
            <a:pPr>
              <a:spcAft>
                <a:spcPts val="400"/>
              </a:spcAft>
            </a:pPr>
            <a:r>
              <a:rPr sz="2800" b="1" i="0">
                <a:solidFill>
                  <a:srgbClr val="1F5E56"/>
                </a:solidFill>
                <a:latin typeface="IBM Plex Sans"/>
              </a:rPr>
              <a:t>58%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of households rent (Zensus 2022) — the only EU country where more rent than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5486400" cy="141732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FOREIGN POPULATION, DE</a:t>
            </a:r>
          </a:p>
          <a:p>
            <a:pPr>
              <a:spcAft>
                <a:spcPts val="400"/>
              </a:spcAft>
            </a:pPr>
            <a:r>
              <a:rPr sz="2800" b="1" i="0">
                <a:solidFill>
                  <a:srgbClr val="1F5E56"/>
                </a:solidFill>
                <a:latin typeface="IBM Plex Sans"/>
              </a:rPr>
              <a:t>10.9M → 14.1M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+28.9%, 2018→2025 — skews toward renting (Ukraine +897%, India +151%).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429000"/>
            <a:ext cx="5486400" cy="141732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REAL-ESTATE AI HIRING, 2025</a:t>
            </a:r>
          </a:p>
          <a:p>
            <a:pPr>
              <a:spcAft>
                <a:spcPts val="400"/>
              </a:spcAft>
            </a:pPr>
            <a:r>
              <a:rPr sz="2800" b="1" i="0">
                <a:solidFill>
                  <a:srgbClr val="1F5E56"/>
                </a:solidFill>
                <a:latin typeface="IBM Plex Sans"/>
              </a:rPr>
              <a:t>+93.5%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YoY, 2nd-fastest of any sector tracked — still early-stage.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IW Köln “Private Vermieter in Deutschland” (SOEP v39+Zensus) · Destatis Zensus 2022/AZR · Stanford HAI AI Index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WHO THE CUSTOMER REALLY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A2E"/>
                </a:solidFill>
                <a:latin typeface="IBM Plex Sans"/>
              </a:rPr>
              <a:t>Not a professional investor — someone with one apartment and a spreadsheet they don't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5120640" cy="155448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OWN AT MOST 2 PROPERTIES</a:t>
            </a:r>
          </a:p>
          <a:p>
            <a:pPr>
              <a:spcAft>
                <a:spcPts val="400"/>
              </a:spcAft>
            </a:pPr>
            <a:r>
              <a:rPr sz="3000" b="1" i="0">
                <a:solidFill>
                  <a:srgbClr val="1F5E56"/>
                </a:solidFill>
                <a:latin typeface="IBM Plex Sans"/>
              </a:rPr>
              <a:t>~75%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of private landlords (IW Köln Vermieterreport 2026, n=1,002) — and the 1-property share is rising: 55%→58%, 2024→2026.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965960"/>
            <a:ext cx="5120640" cy="155448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RENTAL INCOME IS MINOR/NEGLIGIBLE</a:t>
            </a:r>
          </a:p>
          <a:p>
            <a:pPr>
              <a:spcAft>
                <a:spcPts val="400"/>
              </a:spcAft>
            </a:pPr>
            <a:r>
              <a:rPr sz="3000" b="1" i="0">
                <a:solidFill>
                  <a:srgbClr val="1F5E56"/>
                </a:solidFill>
                <a:latin typeface="IBM Plex Sans"/>
              </a:rPr>
              <a:t>55%+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of landlords say rental income is a minor or negligible share of total income — a side activity, not a profession.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B2A2E"/>
                </a:solidFill>
                <a:latin typeface="IBM Plex Sans"/>
              </a:rPr>
              <a:t>That's the design brief: lightweight, not sophisticated. A power-user portfolio tool would miss the actual market — the 6+ property segment is flat or shrinking as a share, not growing.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IW Köln, Deutschland.Immobilien Vermieterreport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THE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A2E"/>
                </a:solidFill>
                <a:latin typeface="IBM Plex Sans"/>
              </a:rPr>
              <a:t>Your landlords are already your users. Give them the module they're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B665F"/>
                </a:solidFill>
                <a:latin typeface="IBM Plex Sans"/>
              </a:rPr>
              <a:t>Chleo's platform already has private landlords as listing-side users. This isn't a new market — it's a second product for a customer she already has.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2514600" cy="18288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28016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5E56"/>
                </a:solidFill>
                <a:latin typeface="IBM Plex Mono"/>
              </a:rPr>
              <a:t>01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Upload</a:t>
            </a:r>
          </a:p>
          <a:p>
            <a:r>
              <a:rPr sz="1150" b="0" i="0">
                <a:solidFill>
                  <a:srgbClr val="5B665F"/>
                </a:solidFill>
                <a:latin typeface="IBM Plex Sans"/>
              </a:rPr>
              <a:t>Landlord uploads a rent receipt, EMI statement, Nebenkosten invoice, or 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560320"/>
            <a:ext cx="2514600" cy="18288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28016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5E56"/>
                </a:solidFill>
                <a:latin typeface="IBM Plex Mono"/>
              </a:rPr>
              <a:t>02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AI drafts</a:t>
            </a:r>
          </a:p>
          <a:p>
            <a:r>
              <a:rPr sz="1150" b="0" i="0">
                <a:solidFill>
                  <a:srgbClr val="5B665F"/>
                </a:solidFill>
                <a:latin typeface="IBM Plex Sans"/>
              </a:rPr>
              <a:t>The model extracts fields and rates its own confidence — never guesses silently.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560320"/>
            <a:ext cx="2514600" cy="18288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28016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5E56"/>
                </a:solidFill>
                <a:latin typeface="IBM Plex Mono"/>
              </a:rPr>
              <a:t>03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Landlord confirms</a:t>
            </a:r>
          </a:p>
          <a:p>
            <a:r>
              <a:rPr sz="1150" b="0" i="0">
                <a:solidFill>
                  <a:srgbClr val="5B665F"/>
                </a:solidFill>
                <a:latin typeface="IBM Plex Sans"/>
              </a:rPr>
              <a:t>Nothing saves until a human reviews it. Low confidence gets flagged, not hidden.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560320"/>
            <a:ext cx="2514600" cy="18288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28016"/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5E56"/>
                </a:solidFill>
                <a:latin typeface="IBM Plex Mono"/>
              </a:rPr>
              <a:t>04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Dashboard updates</a:t>
            </a:r>
          </a:p>
          <a:p>
            <a:r>
              <a:rPr sz="1150" b="0" i="0">
                <a:solidFill>
                  <a:srgbClr val="5B665F"/>
                </a:solidFill>
                <a:latin typeface="IBM Plex Sans"/>
              </a:rPr>
              <a:t>Portfolio profit &amp; loss, occupancy, and market comps — always current.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ANSWERING THE FEAR DIRECTLY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B2A2E"/>
                </a:solidFill>
                <a:latin typeface="IBM Plex Sans"/>
              </a:rPr>
              <a:t>“AI isn't transparent” — here's what we built so that objection doesn't 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We cite the failure rate, not just the success rate. AI Index 2026's MortgageTax benchmark: even frontier models don't reliably exceed 69.4% accuracy on real financial documents. We designed around that number, not a marketing claim.</a:t>
            </a:r>
          </a:p>
          <a:p>
            <a:pPr>
              <a:spcAft>
                <a:spcPts val="14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Every extraction is a draft, never a save. The confidence threshold is set at that same 0.70 ceiling — not a round number picked for looks.</a:t>
            </a:r>
          </a:p>
          <a:p>
            <a:pPr>
              <a:spcAft>
                <a:spcPts val="14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Every model call is traced in LangSmith — what it saw, what it returned, why it was or wasn't flagged. Inspectable, not a black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828800"/>
            <a:ext cx="384048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SAMPLE: CLEAN DOCUMENT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B2A2E"/>
                </a:solidFill>
                <a:latin typeface="IBM Plex Sans"/>
              </a:rPr>
              <a:t>confidence 0.98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880360"/>
            <a:ext cx="1554480" cy="310896"/>
          </a:xfrm>
          <a:prstGeom prst="roundRect">
            <a:avLst/>
          </a:prstGeom>
          <a:solidFill>
            <a:srgbClr val="DCEAD9"/>
          </a:solidFill>
          <a:ln w="9525">
            <a:solidFill>
              <a:srgbClr val="3F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 i="0">
                <a:solidFill>
                  <a:srgbClr val="3F7D4C"/>
                </a:solidFill>
                <a:latin typeface="IBM Plex Mono"/>
              </a:rPr>
              <a:t>CONFIRMED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429000"/>
            <a:ext cx="384048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SAMPLE: GARBLED SCAN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B2A2E"/>
                </a:solidFill>
                <a:latin typeface="IBM Plex Sans"/>
              </a:rPr>
              <a:t>confidence 0.50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480560"/>
            <a:ext cx="1554480" cy="310896"/>
          </a:xfrm>
          <a:prstGeom prst="roundRect">
            <a:avLst/>
          </a:prstGeom>
          <a:solidFill>
            <a:srgbClr val="F2E2CD"/>
          </a:solidFill>
          <a:ln w="9525">
            <a:solidFill>
              <a:srgbClr val="B5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 i="0">
                <a:solidFill>
                  <a:srgbClr val="B5722A"/>
                </a:solidFill>
                <a:latin typeface="IBM Plex Mono"/>
              </a:rPr>
              <a:t>NEEDS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AI Index Report 2026 §2.5 (MortgageTax) · langsmith/run_monitoring_sample.py, actually executed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WHAT THE DASHBOARD REVEALS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B2A2E"/>
                </a:solidFill>
                <a:latin typeface="IBM Plex Sans"/>
              </a:rPr>
              <a:t>The number a landlord tracks isn't the number that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B2A2E"/>
                </a:solidFill>
                <a:latin typeface="IBM Plex Sans"/>
              </a:rPr>
              <a:t>Rent minus mortgage looks fine on most of our sample portfolio. The true monthly cash flow — after management fees, maintenance reserve, insurance, property tax, and Nebenkosten shortfalls — tells a different story.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74320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377440"/>
                <a:gridCol w="2377440"/>
                <a:gridCol w="19202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665F"/>
                          </a:solidFill>
                          <a:latin typeface="IBM Plex Sans"/>
                        </a:rPr>
                        <a:t>Property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665F"/>
                          </a:solidFill>
                          <a:latin typeface="IBM Plex Sans"/>
                        </a:rPr>
                        <a:t>City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665F"/>
                          </a:solidFill>
                          <a:latin typeface="IBM Plex Sans"/>
                        </a:rPr>
                        <a:t>Rent − EMI (naive)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665F"/>
                          </a:solidFill>
                          <a:latin typeface="IBM Plex Sans"/>
                        </a:rPr>
                        <a:t>True net cash flow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665F"/>
                          </a:solidFill>
                          <a:latin typeface="IBM Plex Sans"/>
                        </a:rPr>
                        <a:t>Status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P02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Leipzig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+€352/mo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+€55/mo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7D4C"/>
                          </a:solidFill>
                          <a:latin typeface="IBM Plex Mono"/>
                        </a:rPr>
                        <a:t>still positive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P01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Berlin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+€51/mo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−€230/mo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5722A"/>
                          </a:solidFill>
                          <a:latin typeface="IBM Plex Mono"/>
                        </a:rPr>
                        <a:t>hidden loss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P03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München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−€56/mo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2E"/>
                          </a:solidFill>
                          <a:latin typeface="IBM Plex Mono"/>
                        </a:rPr>
                        <a:t>−€341/mo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5722A"/>
                          </a:solidFill>
                          <a:latin typeface="IBM Plex Mono"/>
                        </a:rPr>
                        <a:t>hidden loss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1B2A2E"/>
                </a:solidFill>
                <a:latin typeface="IBM Plex Sans"/>
              </a:rPr>
              <a:t>6 of the 8 sample properties run a real monthly loss once full costs are counted — even though most nominally “cover” the mortgage. That gap is the product's reason to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data/synthetic_landlord_portfolio.csv + synthetic_monthly_transactions.csv (fabricated, per the brief's data-source constraint)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COST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2E"/>
                </a:solidFill>
                <a:latin typeface="IBM Plex Sans"/>
              </a:rPr>
              <a:t>The AI itself is the cheap part. Say 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484632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COST PER SHORT DOCUMENT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1F5E56"/>
                </a:solidFill>
                <a:latin typeface="IBM Plex Sans"/>
              </a:rPr>
              <a:t>~€0.005–0.01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Rent receipt / Nebenkosten invoice — GPT-4.1, $2/$8 per 1M in/out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37560"/>
            <a:ext cx="484632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COST PER LEASE DOCUMENT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1F5E56"/>
                </a:solidFill>
                <a:latin typeface="IBM Plex Sans"/>
              </a:rPr>
              <a:t>~€0.03–0.08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Multi-page rental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828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Pilot hardening — ~2 weeks: auth, error handling, a real draft-record store.</a:t>
            </a:r>
          </a:p>
          <a:p>
            <a:pPr>
              <a:spcAft>
                <a:spcPts val="12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Pilot — ~8–10 weeks with ~200 opted-in landlords from the existing user base.</a:t>
            </a:r>
          </a:p>
          <a:p>
            <a:pPr>
              <a:spcAft>
                <a:spcPts val="12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Decision point — ~3 months out, on real pilot data, not assumptions.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97680"/>
            <a:ext cx="5394960" cy="128016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FIXED MONTHLY TOOLING COST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1B2A2E"/>
                </a:solidFill>
                <a:latin typeface="IBM Plex Sans"/>
              </a:rPr>
              <a:t>~€70–90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Dominates the total until landlord count reaches the thousands.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cost_estimation/cost_analysis.md — cited to OpenAI, Tableau, LangSmith public pricing (Aug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RISKS, NAMED — NOT BURIED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A2E"/>
                </a:solidFill>
                <a:latin typeface="IBM Plex Sans"/>
              </a:rPr>
              <a:t>What could go wrong, and where we've deliberately drawn the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" cy="1554480"/>
          </a:xfrm>
          <a:prstGeom prst="rect">
            <a:avLst/>
          </a:prstGeom>
          <a:solidFill>
            <a:srgbClr val="B5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B5722A"/>
                </a:solidFill>
                <a:latin typeface="IBM Plex Mono"/>
              </a:rPr>
              <a:t>TECHNICAL</a:t>
            </a:r>
          </a:p>
          <a:p>
            <a:r>
              <a:rPr sz="1250" b="0" i="0">
                <a:solidFill>
                  <a:srgbClr val="1B2A2E"/>
                </a:solidFill>
                <a:latin typeface="IBM Plex Sans"/>
              </a:rPr>
              <a:t>Document extraction tops out around 70% accuracy on real financial documents — designed around with mandatory human review, not hidden.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4864" cy="1554480"/>
          </a:xfrm>
          <a:prstGeom prst="rect">
            <a:avLst/>
          </a:prstGeom>
          <a:solidFill>
            <a:srgbClr val="B5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64224" y="18288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B5722A"/>
                </a:solidFill>
                <a:latin typeface="IBM Plex Mono"/>
              </a:rPr>
              <a:t>REGULATORY</a:t>
            </a:r>
          </a:p>
          <a:p>
            <a:r>
              <a:rPr sz="1250" b="0" i="0">
                <a:solidFill>
                  <a:srgbClr val="1B2A2E"/>
                </a:solidFill>
                <a:latin typeface="IBM Plex Sans"/>
              </a:rPr>
              <a:t>Uploaded documents are sensitive financial data — a real GDPR surface (legal basis, DPIA, third-party processor) for Round 2, flagged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54864" cy="1554480"/>
          </a:xfrm>
          <a:prstGeom prst="rect">
            <a:avLst/>
          </a:prstGeom>
          <a:solidFill>
            <a:srgbClr val="5B6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36576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5B665F"/>
                </a:solidFill>
                <a:latin typeface="IBM Plex Mono"/>
              </a:rPr>
              <a:t>EXPLICITLY OUT OF SCOPE</a:t>
            </a:r>
          </a:p>
          <a:p>
            <a:r>
              <a:rPr sz="1250" b="0" i="0">
                <a:solidFill>
                  <a:srgbClr val="1B2A2E"/>
                </a:solidFill>
                <a:latin typeface="IBM Plex Sans"/>
              </a:rPr>
              <a:t>Tenant screening/approval decisions. Colorado's AI Act names housing decisions as discrimination-risk, alongside hiring and medical care.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657600"/>
            <a:ext cx="54864" cy="1554480"/>
          </a:xfrm>
          <a:prstGeom prst="rect">
            <a:avLst/>
          </a:prstGeom>
          <a:solidFill>
            <a:srgbClr val="5B6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4224" y="3657600"/>
            <a:ext cx="4937760" cy="1554480"/>
          </a:xfrm>
          <a:prstGeom prst="rect">
            <a:avLst/>
          </a:prstGeom>
          <a:solidFill>
            <a:srgbClr val="F5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2801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5B665F"/>
                </a:solidFill>
                <a:latin typeface="IBM Plex Mono"/>
              </a:rPr>
              <a:t>ADOPTION</a:t>
            </a:r>
          </a:p>
          <a:p>
            <a:r>
              <a:rPr sz="1250" b="0" i="0">
                <a:solidFill>
                  <a:srgbClr val="1B2A2E"/>
                </a:solidFill>
                <a:latin typeface="IBM Plex Sans"/>
              </a:rPr>
              <a:t>Our own customer (slide 04) is price-sensitive and low-tech-sophistication — the MVP stays lightweight on purpose.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IF THIS SURVIVES THE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A2E"/>
                </a:solidFill>
                <a:latin typeface="IBM Plex Sans"/>
              </a:rPr>
              <a:t>Round 2 deepens exactly this — it doesn't pivot to something new.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A working MVP: document upload → extraction → confirm → dashboard, running end to end, not just described.</a:t>
            </a:r>
          </a:p>
          <a:p>
            <a:pPr>
              <a:spcAft>
                <a:spcPts val="13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A real ROI case, built from pilot data instead of the illustrative numbers on slide 08.</a:t>
            </a:r>
          </a:p>
          <a:p>
            <a:pPr>
              <a:spcAft>
                <a:spcPts val="13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EU AI Act classification and GDPR documentation — including the honest “minimal risk, and here's why” argument this use case supports.</a:t>
            </a:r>
          </a:p>
          <a:p>
            <a:pPr>
              <a:spcAft>
                <a:spcPts val="1300"/>
              </a:spcAft>
            </a:pPr>
            <a:r>
              <a:rPr sz="1350" b="0" i="0">
                <a:solidFill>
                  <a:srgbClr val="1B2A2E"/>
                </a:solidFill>
                <a:latin typeface="IBM Plex Sans"/>
              </a:rPr>
              <a:t>—  A strategic plan: pilot → full rollout, with the market-valuation use case as the next phase, not an afterthought.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828800"/>
            <a:ext cx="3840480" cy="201168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WHAT DOES NOT CHANGE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Real estate · private landlords · this exact use case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Unless today's feedback says otherwise.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B2A2E"/>
                </a:solidFill>
                <a:latin typeface="IBM Plex Sans"/>
              </a:rPr>
              <a:t>Tell us if this is the room we should be building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515600" cy="109728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WE'RE ASKING FOR</a:t>
            </a:r>
          </a:p>
          <a:p>
            <a:pPr>
              <a:spcAft>
                <a:spcPts val="400"/>
              </a:spcAft>
            </a:pPr>
            <a:r>
              <a:rPr sz="1700" b="1" i="0">
                <a:solidFill>
                  <a:srgbClr val="1B2A2E"/>
                </a:solidFill>
                <a:latin typeface="IBM Plex Sans"/>
              </a:rPr>
              <a:t>Feedback on the sector, the use case, and whether the transparency story actually lands — not just applause.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0" i="0">
                <a:solidFill>
                  <a:srgbClr val="1B2A2E"/>
                </a:solidFill>
                <a:latin typeface="IBM Plex Sans"/>
              </a:rPr>
              <a:t>—  Did the Hidden Cost Gap (slide 07) feel like a real insight, or an obvious one?</a:t>
            </a:r>
          </a:p>
          <a:p>
            <a:pPr>
              <a:spcAft>
                <a:spcPts val="1200"/>
              </a:spcAft>
            </a:pPr>
            <a:r>
              <a:rPr sz="1450" b="0" i="0">
                <a:solidFill>
                  <a:srgbClr val="1B2A2E"/>
                </a:solidFill>
                <a:latin typeface="IBM Plex Sans"/>
              </a:rPr>
              <a:t>—  Does “minimal, lightweight, for non-professional landlords” read as a strength or as too small a bet?</a:t>
            </a:r>
          </a:p>
          <a:p>
            <a:pPr>
              <a:spcAft>
                <a:spcPts val="1200"/>
              </a:spcAft>
            </a:pPr>
            <a:r>
              <a:rPr sz="1450" b="0" i="0">
                <a:solidFill>
                  <a:srgbClr val="1B2A2E"/>
                </a:solidFill>
                <a:latin typeface="IBM Plex Sans"/>
              </a:rPr>
              <a:t>—  Keep this industry and use case, or should we change direction before Round 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RECORDED AFTER THIS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2A2E"/>
                </a:solidFill>
                <a:latin typeface="IBM Plex Sans"/>
              </a:rPr>
              <a:t>Keep or change — written down honestly, not decided in advance.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120640" cy="173736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DECISION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1B2A2E"/>
                </a:solidFill>
                <a:latin typeface="IBM Plex Sans"/>
              </a:rPr>
              <a:t>Pending — see feedback/round1_decision.md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Intentionally not pre-filled. The feedback from this room determines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B2A2E"/>
                </a:solidFill>
                <a:latin typeface="IBM Plex Sans"/>
              </a:rPr>
              <a:t>Changing industry or use case after this presentation costs nothing per the brief — and pretending a decision was already made before the room spoke would undercut the entire transparency pitch this deck just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APPENDIX — MONETIZATION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2E"/>
                </a:solidFill>
                <a:latin typeface="IBM Plex Sans"/>
              </a:rPr>
              <a:t>Would €2 a month even be worth charging?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B2A2E"/>
                </a:solidFill>
                <a:latin typeface="IBM Plex Sans"/>
              </a:rPr>
              <a:t>Assume 150,000 new rental properties enter the German market each year. That number isn't picked out of thin air — it independently matches our own cited landlord-growth data: private-landlord households grew by +1.8M over 2010–2022 (slide 03), which averages to almost exactly 150,000/year.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06324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Market capture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Landlords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Revenue / month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Revenue / year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5%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7,500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€15,000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€180,000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10%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15,000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€360,000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25%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37,500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€75,000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€900,000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100% (ceiling)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150,000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€300,000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€3,600,000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B665F"/>
                </a:solidFill>
                <a:latin typeface="IBM Plex Sans"/>
              </a:rPr>
              <a:t>Even a coffee-money price point aggregates into real revenue at this market size — the question isn't whether €2 is enough, it's whether the cost side stays trivial enough to make that irrelevant. Slide 14 checks that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IW Köln SOEP v39+Zensus (see slide 03) · 150,000/year is illustrative market sizing, not a verified external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F5E56"/>
                </a:solidFill>
                <a:latin typeface="IBM Plex Mono"/>
              </a:rPr>
              <a:t>APPENDIX — 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384048" cy="256032"/>
          </a:xfrm>
          <a:prstGeom prst="rect">
            <a:avLst/>
          </a:prstGeom>
          <a:solidFill>
            <a:srgbClr val="1F5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000" b="1" i="0">
                <a:solidFill>
                  <a:srgbClr val="ECEFE2"/>
                </a:solidFill>
                <a:latin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2E"/>
                </a:solidFill>
                <a:latin typeface="IBM Plex Sans"/>
              </a:rPr>
              <a:t>The math holds even at the lowest defensible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484632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VARIABLE COST PER LANDLORD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1F5E56"/>
                </a:solidFill>
                <a:latin typeface="IBM Plex Sans"/>
              </a:rPr>
              <a:t>~€0.02–0.04/mo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AI extraction cost, blended — from cost_estimation/cost_analysis.md.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37560"/>
            <a:ext cx="4846320" cy="155448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FIXED MONTHLY COST</a:t>
            </a:r>
          </a:p>
          <a:p>
            <a:pPr>
              <a:spcAft>
                <a:spcPts val="400"/>
              </a:spcAft>
            </a:pPr>
            <a:r>
              <a:rPr sz="2200" b="1" i="0">
                <a:solidFill>
                  <a:srgbClr val="1F5E56"/>
                </a:solidFill>
                <a:latin typeface="IBM Plex Sans"/>
              </a:rPr>
              <a:t>~€2,665–2,685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Tableau+n8n tooling (~€70–90) plus 0.1 FTE maintenance at the same €150/hr rate already used in the cost estimate.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5394960" cy="1371600"/>
          </a:xfrm>
          <a:prstGeom prst="rect">
            <a:avLst/>
          </a:prstGeom>
          <a:solidFill>
            <a:srgbClr val="F5F6EC"/>
          </a:solidFill>
          <a:ln w="9525">
            <a:solidFill>
              <a:srgbClr val="A9A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B665F"/>
                </a:solidFill>
                <a:latin typeface="IBM Plex Mono"/>
              </a:rPr>
              <a:t>BREAKEVEN</a:t>
            </a:r>
          </a:p>
          <a:p>
            <a:pPr>
              <a:spcAft>
                <a:spcPts val="400"/>
              </a:spcAft>
            </a:pPr>
            <a:r>
              <a:rPr sz="2400" b="1" i="0">
                <a:solidFill>
                  <a:srgbClr val="1B2A2E"/>
                </a:solidFill>
                <a:latin typeface="IBM Plex Sans"/>
              </a:rPr>
              <a:t>~1,340 landlords</a:t>
            </a:r>
          </a:p>
          <a:p>
            <a:r>
              <a:rPr sz="1050" b="0" i="0">
                <a:solidFill>
                  <a:srgbClr val="1B2A2E"/>
                </a:solidFill>
                <a:latin typeface="IBM Plex Sans"/>
              </a:rPr>
              <a:t>Under 1% of the 150,000/year addressable pool — inside the pilot scale already discussed.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338328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Landlords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Revenue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Cost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65F"/>
                          </a:solidFill>
                          <a:latin typeface="IBM Plex Mono"/>
                        </a:rPr>
                        <a:t>Margin</a:t>
                      </a:r>
                    </a:p>
                  </a:txBody>
                  <a:tcPr>
                    <a:solidFill>
                      <a:srgbClr val="F5F6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2,000 (pilot)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€4,000/mo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€2,765/mo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+31%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15,000 (10%)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€30,000/mo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€3,285/mo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2E"/>
                          </a:solidFill>
                          <a:latin typeface="IBM Plex Mono"/>
                        </a:rPr>
                        <a:t>+89%</a:t>
                      </a:r>
                    </a:p>
                  </a:txBody>
                  <a:tcPr>
                    <a:solidFill>
                      <a:srgbClr val="ECEFE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074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B2A2E"/>
                </a:solidFill>
                <a:latin typeface="IBM Plex Sans"/>
              </a:rPr>
              <a:t>Even the pilot scale already discussed elsewhere in this deck is profitable at €2/month. Honest caveat: this excludes customer acquisition, support, and churn — it's a floor showing the cost side isn't the constraint, not a recommended final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SOURCE: cost_estimation/cost_analysis.md — unit costs cited to public pricing; breakeven/margin computed here, not previously 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65F"/>
                </a:solidFill>
                <a:latin typeface="IBM Plex Mono"/>
              </a:rPr>
              <a:t>Property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B665F"/>
                </a:solidFill>
                <a:latin typeface="IBM Plex Mono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